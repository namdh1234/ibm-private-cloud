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00" autoAdjust="0"/>
    <p:restoredTop sz="57092" autoAdjust="0"/>
  </p:normalViewPr>
  <p:slideViewPr>
    <p:cSldViewPr snapToGrid="0">
      <p:cViewPr varScale="1">
        <p:scale>
          <a:sx n="42" d="100"/>
          <a:sy n="42" d="100"/>
        </p:scale>
        <p:origin x="864" y="4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BA9B488-5755-460E-9DB6-D0FF635609A0}" type="datetimeFigureOut">
              <a:rPr lang="en-US" smtClean="0"/>
              <a:t>4/23/2018</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EF3BD1-2839-4216-A21F-D2738E6B7191}" type="slidenum">
              <a:rPr lang="en-US" smtClean="0"/>
              <a:t>‹#›</a:t>
            </a:fld>
            <a:endParaRPr lang="en-US"/>
          </a:p>
        </p:txBody>
      </p:sp>
    </p:spTree>
    <p:extLst>
      <p:ext uri="{BB962C8B-B14F-4D97-AF65-F5344CB8AC3E}">
        <p14:creationId xmlns:p14="http://schemas.microsoft.com/office/powerpoint/2010/main" val="11671900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6EF3BD1-2839-4216-A21F-D2738E6B7191}" type="slidenum">
              <a:rPr lang="en-US" smtClean="0"/>
              <a:t>1</a:t>
            </a:fld>
            <a:endParaRPr lang="en-US"/>
          </a:p>
        </p:txBody>
      </p:sp>
    </p:spTree>
    <p:extLst>
      <p:ext uri="{BB962C8B-B14F-4D97-AF65-F5344CB8AC3E}">
        <p14:creationId xmlns:p14="http://schemas.microsoft.com/office/powerpoint/2010/main" val="23746032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6EF3BD1-2839-4216-A21F-D2738E6B7191}" type="slidenum">
              <a:rPr lang="en-US" smtClean="0"/>
              <a:t>2</a:t>
            </a:fld>
            <a:endParaRPr lang="en-US"/>
          </a:p>
        </p:txBody>
      </p:sp>
    </p:spTree>
    <p:extLst>
      <p:ext uri="{BB962C8B-B14F-4D97-AF65-F5344CB8AC3E}">
        <p14:creationId xmlns:p14="http://schemas.microsoft.com/office/powerpoint/2010/main" val="37007284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mtClean="0"/>
              <a:t>Phần mềm để phát triển và quản lý ứng dụng on-premise.</a:t>
            </a:r>
          </a:p>
          <a:p>
            <a:r>
              <a:rPr lang="en-US" smtClean="0"/>
              <a:t>Phần mềm phát triển dựa trên công nghệ container</a:t>
            </a:r>
          </a:p>
          <a:p>
            <a:r>
              <a:rPr lang="vi-VN" smtClean="0"/>
              <a:t>Là một môi trường tích hợp để quản trị các container bao gồm:</a:t>
            </a:r>
            <a:endParaRPr lang="en-US" smtClean="0"/>
          </a:p>
          <a:p>
            <a:r>
              <a:rPr lang="vi-VN" smtClean="0"/>
              <a:t>+ Kubernetes: điều khiển các container</a:t>
            </a:r>
          </a:p>
          <a:p>
            <a:r>
              <a:rPr lang="vi-VN" smtClean="0"/>
              <a:t>+ Một kho lưu trữ các image riêng</a:t>
            </a:r>
          </a:p>
          <a:p>
            <a:r>
              <a:rPr lang="vi-VN" smtClean="0"/>
              <a:t>+ Một giao diện quản trị</a:t>
            </a:r>
          </a:p>
          <a:p>
            <a:r>
              <a:rPr lang="vi-VN" smtClean="0"/>
              <a:t>+ Các framework để giám sát</a:t>
            </a:r>
          </a:p>
          <a:p>
            <a:endParaRPr lang="en-US"/>
          </a:p>
        </p:txBody>
      </p:sp>
      <p:sp>
        <p:nvSpPr>
          <p:cNvPr id="4" name="Slide Number Placeholder 3"/>
          <p:cNvSpPr>
            <a:spLocks noGrp="1"/>
          </p:cNvSpPr>
          <p:nvPr>
            <p:ph type="sldNum" sz="quarter" idx="10"/>
          </p:nvPr>
        </p:nvSpPr>
        <p:spPr/>
        <p:txBody>
          <a:bodyPr/>
          <a:lstStyle/>
          <a:p>
            <a:fld id="{46EF3BD1-2839-4216-A21F-D2738E6B7191}" type="slidenum">
              <a:rPr lang="en-US" smtClean="0"/>
              <a:t>3</a:t>
            </a:fld>
            <a:endParaRPr lang="en-US"/>
          </a:p>
        </p:txBody>
      </p:sp>
    </p:spTree>
    <p:extLst>
      <p:ext uri="{BB962C8B-B14F-4D97-AF65-F5344CB8AC3E}">
        <p14:creationId xmlns:p14="http://schemas.microsoft.com/office/powerpoint/2010/main" val="532931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Là một trình cài đặt hợp nhất: sử dụng Kubernetes để tạo ra một cụm các container dựa trên ansibe, ưu điểm nhanh, dễ sử dụng.</a:t>
            </a:r>
            <a:endParaRPr lang="en-US" smtClean="0"/>
          </a:p>
          <a:p>
            <a:r>
              <a:rPr lang="en-US" smtClean="0"/>
              <a:t>Quản lý, giám sát, xác định lỗi cho các ứng dụng chỉ từ một bảng điều khiển duy nhất.</a:t>
            </a:r>
          </a:p>
          <a:p>
            <a:r>
              <a:rPr lang="vi-VN" smtClean="0"/>
              <a:t>Tích hợp với Docker Registry để cung cấp một dịch vụ hoạt động như một Docker Hub (một cloud-based registry). Có chức năng như Docker Hub và có thêm chức năng hạn chế người dùng.</a:t>
            </a:r>
            <a:endParaRPr lang="en-US" smtClean="0"/>
          </a:p>
          <a:p>
            <a:r>
              <a:rPr lang="en-US" smtClean="0"/>
              <a:t>Catalog là một App center cung cấp một giao diện bao gồm các application có sẵn để có thể sử dụng ngay. Muốn sử dụng thêm các App ở nguồn ngoài thì có thể add thêm và hệ thống phải có kết nối internet</a:t>
            </a:r>
          </a:p>
          <a:p>
            <a:r>
              <a:rPr lang="vi-VN" smtClean="0"/>
              <a:t>Calalog bản chất sử dụng Helm (Kubernetes native package management system) để quản lý ứng dụng bên trong một cluster. Cộng đồng Helm mở rông liên tục và cung cấp một loạt các ứng dụng Kubernets đã được thử nghiệm và cấu hình sẵn, sẵn sàng để triển khai ngay lập tức</a:t>
            </a:r>
            <a:endParaRPr lang="en-US" smtClean="0"/>
          </a:p>
          <a:p>
            <a:r>
              <a:rPr lang="vi-VN" smtClean="0"/>
              <a:t>Calico cho phép cải thiện hiệu suất và tạo ra các mạng riêng ảo. Calico có thể tạo một subnet riêng biệt cho từng dự án bên trong một cluster. Sự cách ly mạng này cung cấp bảo mật trong quá trình truyền dữ liệu và giảm nguy cơ xâm phạm ứng dụng và dữ liệu của chúng. Cách ly mạng đặc biệt quan trọng trong môi trường nơi bạn có nhiều ứng dụng đang chạy trên cùng một máy vật lý hoặc máy ảo. Calico cũng tạo các policy cho phép kiểm soát mạng</a:t>
            </a:r>
            <a:endParaRPr lang="en-US" smtClean="0"/>
          </a:p>
          <a:p>
            <a:r>
              <a:rPr lang="vi-VN" smtClean="0"/>
              <a:t>Elasticsearch, Logstash, Filebeat và Heapster được sử dụng để thu thập, lưu trữ và truy vấn nhật ký và số liệu.</a:t>
            </a:r>
            <a:endParaRPr lang="en-US"/>
          </a:p>
        </p:txBody>
      </p:sp>
      <p:sp>
        <p:nvSpPr>
          <p:cNvPr id="4" name="Slide Number Placeholder 3"/>
          <p:cNvSpPr>
            <a:spLocks noGrp="1"/>
          </p:cNvSpPr>
          <p:nvPr>
            <p:ph type="sldNum" sz="quarter" idx="10"/>
          </p:nvPr>
        </p:nvSpPr>
        <p:spPr/>
        <p:txBody>
          <a:bodyPr/>
          <a:lstStyle/>
          <a:p>
            <a:fld id="{46EF3BD1-2839-4216-A21F-D2738E6B7191}" type="slidenum">
              <a:rPr lang="en-US" smtClean="0"/>
              <a:t>4</a:t>
            </a:fld>
            <a:endParaRPr lang="en-US"/>
          </a:p>
        </p:txBody>
      </p:sp>
    </p:spTree>
    <p:extLst>
      <p:ext uri="{BB962C8B-B14F-4D97-AF65-F5344CB8AC3E}">
        <p14:creationId xmlns:p14="http://schemas.microsoft.com/office/powerpoint/2010/main" val="29480067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Boot node: là nốt để khởi động, sử dụng để chạy, cài đặt, cấu hình, mở rộng và update các node.</a:t>
            </a:r>
          </a:p>
          <a:p>
            <a:r>
              <a:rPr lang="vi-VN" smtClean="0"/>
              <a:t>Boot node có thể sử dụng như là boot và master node</a:t>
            </a:r>
          </a:p>
          <a:p>
            <a:r>
              <a:rPr lang="en-US" smtClean="0"/>
              <a:t>Master node: quản lý các worker node chịu trách nhiệm phân bổ tài nguyên, kiểm tra trạng thái, lập lịch và giám sát các worker node</a:t>
            </a:r>
          </a:p>
          <a:p>
            <a:r>
              <a:rPr lang="vi-VN" smtClean="0"/>
              <a:t>Worker node: Cung cấp tài nguyên làm môi trường chứ các ứng dụng và tác vụ đang chạy, có thể thêm bớt các worker node một cách dễ dàng, mỗi cluster phải có tối thiểu một worker node.</a:t>
            </a:r>
            <a:endParaRPr lang="en-US" smtClean="0"/>
          </a:p>
          <a:p>
            <a:r>
              <a:rPr lang="vi-VN" smtClean="0"/>
              <a:t>Proxy node: là một nút nhận các yêu cầu từ bên ngoài vào đến các dịch vụ bên trong cluster. Một Proxy node có thể đảm nhận cả Master node và proxy node. Nếu muốn sử dụng HA Cluster thì có thể dựng nhiều hơn một proxy node</a:t>
            </a:r>
            <a:endParaRPr lang="en-US" smtClean="0"/>
          </a:p>
          <a:p>
            <a:r>
              <a:rPr lang="vi-VN" smtClean="0"/>
              <a:t>Management node: (option) sử dụng để chứa các dịch vụ quản lý như giám sát, đo các thông số và activity logs. Master node có thể đảm nhiệm luôn Management nodes nhưng nếu sử dụng management node có thể giảm tải cho master node. </a:t>
            </a:r>
            <a:endParaRPr lang="en-US"/>
          </a:p>
        </p:txBody>
      </p:sp>
      <p:sp>
        <p:nvSpPr>
          <p:cNvPr id="4" name="Slide Number Placeholder 3"/>
          <p:cNvSpPr>
            <a:spLocks noGrp="1"/>
          </p:cNvSpPr>
          <p:nvPr>
            <p:ph type="sldNum" sz="quarter" idx="10"/>
          </p:nvPr>
        </p:nvSpPr>
        <p:spPr/>
        <p:txBody>
          <a:bodyPr/>
          <a:lstStyle/>
          <a:p>
            <a:fld id="{46EF3BD1-2839-4216-A21F-D2738E6B7191}" type="slidenum">
              <a:rPr lang="en-US" smtClean="0"/>
              <a:t>5</a:t>
            </a:fld>
            <a:endParaRPr lang="en-US"/>
          </a:p>
        </p:txBody>
      </p:sp>
    </p:spTree>
    <p:extLst>
      <p:ext uri="{BB962C8B-B14F-4D97-AF65-F5344CB8AC3E}">
        <p14:creationId xmlns:p14="http://schemas.microsoft.com/office/powerpoint/2010/main" val="25585302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6EF3BD1-2839-4216-A21F-D2738E6B7191}" type="slidenum">
              <a:rPr lang="en-US" smtClean="0"/>
              <a:t>6</a:t>
            </a:fld>
            <a:endParaRPr lang="en-US"/>
          </a:p>
        </p:txBody>
      </p:sp>
    </p:spTree>
    <p:extLst>
      <p:ext uri="{BB962C8B-B14F-4D97-AF65-F5344CB8AC3E}">
        <p14:creationId xmlns:p14="http://schemas.microsoft.com/office/powerpoint/2010/main" val="3357509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E4AD6F24-DC7E-4851-A150-5F211B1B3345}" type="datetimeFigureOut">
              <a:rPr lang="en-US" smtClean="0"/>
              <a:t>4/23/2018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9038226-5EA9-4DF3-82E3-1672B64E4A65}" type="slidenum">
              <a:rPr lang="en-US" smtClean="0"/>
              <a:t>‹#›</a:t>
            </a:fld>
            <a:endParaRPr lang="en-US"/>
          </a:p>
        </p:txBody>
      </p:sp>
    </p:spTree>
    <p:extLst>
      <p:ext uri="{BB962C8B-B14F-4D97-AF65-F5344CB8AC3E}">
        <p14:creationId xmlns:p14="http://schemas.microsoft.com/office/powerpoint/2010/main" val="149289825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E4AD6F24-DC7E-4851-A150-5F211B1B3345}" type="datetimeFigureOut">
              <a:rPr lang="en-US" smtClean="0"/>
              <a:t>4/23/2018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9038226-5EA9-4DF3-82E3-1672B64E4A65}" type="slidenum">
              <a:rPr lang="en-US" smtClean="0"/>
              <a:t>‹#›</a:t>
            </a:fld>
            <a:endParaRPr lang="en-US"/>
          </a:p>
        </p:txBody>
      </p:sp>
    </p:spTree>
    <p:extLst>
      <p:ext uri="{BB962C8B-B14F-4D97-AF65-F5344CB8AC3E}">
        <p14:creationId xmlns:p14="http://schemas.microsoft.com/office/powerpoint/2010/main" val="9456847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4AD6F24-DC7E-4851-A150-5F211B1B3345}" type="datetimeFigureOut">
              <a:rPr lang="en-US" smtClean="0"/>
              <a:t>4/23/2018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9038226-5EA9-4DF3-82E3-1672B64E4A65}" type="slidenum">
              <a:rPr lang="en-US" smtClean="0"/>
              <a:t>‹#›</a:t>
            </a:fld>
            <a:endParaRPr lang="en-US"/>
          </a:p>
        </p:txBody>
      </p:sp>
    </p:spTree>
    <p:extLst>
      <p:ext uri="{BB962C8B-B14F-4D97-AF65-F5344CB8AC3E}">
        <p14:creationId xmlns:p14="http://schemas.microsoft.com/office/powerpoint/2010/main" val="17339882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E4AD6F24-DC7E-4851-A150-5F211B1B3345}" type="datetimeFigureOut">
              <a:rPr lang="en-US" smtClean="0"/>
              <a:t>4/23/2018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9038226-5EA9-4DF3-82E3-1672B64E4A65}" type="slidenum">
              <a:rPr lang="en-US" smtClean="0"/>
              <a:t>‹#›</a:t>
            </a:fld>
            <a:endParaRPr lang="en-US"/>
          </a:p>
        </p:txBody>
      </p:sp>
    </p:spTree>
    <p:extLst>
      <p:ext uri="{BB962C8B-B14F-4D97-AF65-F5344CB8AC3E}">
        <p14:creationId xmlns:p14="http://schemas.microsoft.com/office/powerpoint/2010/main" val="41716466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E4AD6F24-DC7E-4851-A150-5F211B1B3345}" type="datetimeFigureOut">
              <a:rPr lang="en-US" smtClean="0"/>
              <a:t>4/23/2018</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9038226-5EA9-4DF3-82E3-1672B64E4A65}" type="slidenum">
              <a:rPr lang="en-US" smtClean="0"/>
              <a:t>‹#›</a:t>
            </a:fld>
            <a:endParaRPr lang="en-US"/>
          </a:p>
        </p:txBody>
      </p:sp>
    </p:spTree>
    <p:extLst>
      <p:ext uri="{BB962C8B-B14F-4D97-AF65-F5344CB8AC3E}">
        <p14:creationId xmlns:p14="http://schemas.microsoft.com/office/powerpoint/2010/main" val="38636250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E4AD6F24-DC7E-4851-A150-5F211B1B3345}" type="datetimeFigureOut">
              <a:rPr lang="en-US" smtClean="0"/>
              <a:t>4/23/2018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9038226-5EA9-4DF3-82E3-1672B64E4A65}" type="slidenum">
              <a:rPr lang="en-US" smtClean="0"/>
              <a:t>‹#›</a:t>
            </a:fld>
            <a:endParaRPr lang="en-US"/>
          </a:p>
        </p:txBody>
      </p:sp>
    </p:spTree>
    <p:extLst>
      <p:ext uri="{BB962C8B-B14F-4D97-AF65-F5344CB8AC3E}">
        <p14:creationId xmlns:p14="http://schemas.microsoft.com/office/powerpoint/2010/main" val="24338193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4AD6F24-DC7E-4851-A150-5F211B1B3345}" type="datetimeFigureOut">
              <a:rPr lang="en-US" smtClean="0"/>
              <a:t>4/23/2018</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9038226-5EA9-4DF3-82E3-1672B64E4A65}" type="slidenum">
              <a:rPr lang="en-US" smtClean="0"/>
              <a:t>‹#›</a:t>
            </a:fld>
            <a:endParaRPr lang="en-US"/>
          </a:p>
        </p:txBody>
      </p:sp>
    </p:spTree>
    <p:extLst>
      <p:ext uri="{BB962C8B-B14F-4D97-AF65-F5344CB8AC3E}">
        <p14:creationId xmlns:p14="http://schemas.microsoft.com/office/powerpoint/2010/main" val="32092587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E4AD6F24-DC7E-4851-A150-5F211B1B3345}" type="datetimeFigureOut">
              <a:rPr lang="en-US" smtClean="0"/>
              <a:t>4/23/2018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9038226-5EA9-4DF3-82E3-1672B64E4A65}" type="slidenum">
              <a:rPr lang="en-US" smtClean="0"/>
              <a:t>‹#›</a:t>
            </a:fld>
            <a:endParaRPr lang="en-US"/>
          </a:p>
        </p:txBody>
      </p:sp>
    </p:spTree>
    <p:extLst>
      <p:ext uri="{BB962C8B-B14F-4D97-AF65-F5344CB8AC3E}">
        <p14:creationId xmlns:p14="http://schemas.microsoft.com/office/powerpoint/2010/main" val="12185977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E4AD6F24-DC7E-4851-A150-5F211B1B3345}" type="datetimeFigureOut">
              <a:rPr lang="en-US" smtClean="0"/>
              <a:t>4/23/2018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9038226-5EA9-4DF3-82E3-1672B64E4A65}" type="slidenum">
              <a:rPr lang="en-US" smtClean="0"/>
              <a:t>‹#›</a:t>
            </a:fld>
            <a:endParaRPr lang="en-US"/>
          </a:p>
        </p:txBody>
      </p:sp>
    </p:spTree>
    <p:extLst>
      <p:ext uri="{BB962C8B-B14F-4D97-AF65-F5344CB8AC3E}">
        <p14:creationId xmlns:p14="http://schemas.microsoft.com/office/powerpoint/2010/main" val="336941792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E4AD6F24-DC7E-4851-A150-5F211B1B3345}" type="datetimeFigureOut">
              <a:rPr lang="en-US" smtClean="0"/>
              <a:t>4/23/2018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9038226-5EA9-4DF3-82E3-1672B64E4A65}" type="slidenum">
              <a:rPr lang="en-US" smtClean="0"/>
              <a:t>‹#›</a:t>
            </a:fld>
            <a:endParaRPr lang="en-US"/>
          </a:p>
        </p:txBody>
      </p:sp>
    </p:spTree>
    <p:extLst>
      <p:ext uri="{BB962C8B-B14F-4D97-AF65-F5344CB8AC3E}">
        <p14:creationId xmlns:p14="http://schemas.microsoft.com/office/powerpoint/2010/main" val="3953402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E4AD6F24-DC7E-4851-A150-5F211B1B3345}" type="datetimeFigureOut">
              <a:rPr lang="en-US" smtClean="0"/>
              <a:t>4/23/2018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9038226-5EA9-4DF3-82E3-1672B64E4A65}" type="slidenum">
              <a:rPr lang="en-US" smtClean="0"/>
              <a:t>‹#›</a:t>
            </a:fld>
            <a:endParaRPr lang="en-US"/>
          </a:p>
        </p:txBody>
      </p:sp>
    </p:spTree>
    <p:extLst>
      <p:ext uri="{BB962C8B-B14F-4D97-AF65-F5344CB8AC3E}">
        <p14:creationId xmlns:p14="http://schemas.microsoft.com/office/powerpoint/2010/main" val="57352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4AD6F24-DC7E-4851-A150-5F211B1B3345}" type="datetimeFigureOut">
              <a:rPr lang="en-US" smtClean="0"/>
              <a:t>4/23/2018</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9038226-5EA9-4DF3-82E3-1672B64E4A65}" type="slidenum">
              <a:rPr lang="en-US" smtClean="0"/>
              <a:t>‹#›</a:t>
            </a:fld>
            <a:endParaRPr lang="en-US"/>
          </a:p>
        </p:txBody>
      </p:sp>
    </p:spTree>
    <p:extLst>
      <p:ext uri="{BB962C8B-B14F-4D97-AF65-F5344CB8AC3E}">
        <p14:creationId xmlns:p14="http://schemas.microsoft.com/office/powerpoint/2010/main" val="137405033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smtClean="0">
                <a:latin typeface="Times New Roman" panose="02020603050405020304" pitchFamily="18" charset="0"/>
                <a:cs typeface="Times New Roman" panose="02020603050405020304" pitchFamily="18" charset="0"/>
              </a:rPr>
              <a:t>IBM Cloud Private</a:t>
            </a:r>
            <a:endParaRPr lang="en-US">
              <a:latin typeface="Times New Roman" panose="02020603050405020304" pitchFamily="18" charset="0"/>
              <a:cs typeface="Times New Roman" panose="02020603050405020304" pitchFamily="18" charset="0"/>
            </a:endParaRPr>
          </a:p>
        </p:txBody>
      </p:sp>
      <p:sp>
        <p:nvSpPr>
          <p:cNvPr id="3" name="Subtitle 2"/>
          <p:cNvSpPr>
            <a:spLocks noGrp="1"/>
          </p:cNvSpPr>
          <p:nvPr>
            <p:ph type="subTitle" idx="1"/>
          </p:nvPr>
        </p:nvSpPr>
        <p:spPr>
          <a:xfrm>
            <a:off x="0" y="3617539"/>
            <a:ext cx="12192000" cy="3348037"/>
          </a:xfrm>
        </p:spPr>
        <p:txBody>
          <a:bodyPr>
            <a:normAutofit/>
          </a:bodyPr>
          <a:lstStyle/>
          <a:p>
            <a:r>
              <a:rPr lang="en-US" err="1" smtClean="0">
                <a:latin typeface="Times New Roman" panose="02020603050405020304" pitchFamily="18" charset="0"/>
                <a:cs typeface="Times New Roman" panose="02020603050405020304" pitchFamily="18" charset="0"/>
              </a:rPr>
              <a:t>Đặng</a:t>
            </a:r>
            <a:r>
              <a:rPr lang="en-US" smtClean="0">
                <a:latin typeface="Times New Roman" panose="02020603050405020304" pitchFamily="18" charset="0"/>
                <a:cs typeface="Times New Roman" panose="02020603050405020304" pitchFamily="18" charset="0"/>
              </a:rPr>
              <a:t> </a:t>
            </a:r>
            <a:r>
              <a:rPr lang="en-US" err="1" smtClean="0">
                <a:latin typeface="Times New Roman" panose="02020603050405020304" pitchFamily="18" charset="0"/>
                <a:cs typeface="Times New Roman" panose="02020603050405020304" pitchFamily="18" charset="0"/>
              </a:rPr>
              <a:t>Hải</a:t>
            </a:r>
            <a:r>
              <a:rPr lang="en-US" smtClean="0">
                <a:latin typeface="Times New Roman" panose="02020603050405020304" pitchFamily="18" charset="0"/>
                <a:cs typeface="Times New Roman" panose="02020603050405020304" pitchFamily="18" charset="0"/>
              </a:rPr>
              <a:t> Nam</a:t>
            </a:r>
          </a:p>
          <a:p>
            <a:r>
              <a:rPr lang="en-US" smtClean="0">
                <a:latin typeface="Times New Roman" panose="02020603050405020304" pitchFamily="18" charset="0"/>
                <a:cs typeface="Times New Roman" panose="02020603050405020304" pitchFamily="18" charset="0"/>
              </a:rPr>
              <a:t>HIS – P.GPHT</a:t>
            </a:r>
            <a:endParaRPr lang="en-US">
              <a:latin typeface="Times New Roman" panose="02020603050405020304" pitchFamily="18" charset="0"/>
              <a:cs typeface="Times New Roman" panose="02020603050405020304" pitchFamily="18" charset="0"/>
            </a:endParaRPr>
          </a:p>
        </p:txBody>
      </p:sp>
      <p:sp>
        <p:nvSpPr>
          <p:cNvPr id="4" name="AutoShape 2" descr="Káº¿t quáº£ hÃ¬nh áº£nh cho ibm cloud private"/>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8" name="Picture 4" descr="Káº¿t quáº£ hÃ¬nh áº£nh cho ibm cloud privat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0" y="0"/>
            <a:ext cx="1524000" cy="160585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Káº¿t quáº£ hÃ¬nh áº£nh cho ibm cloud private"/>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806081" y="5583237"/>
            <a:ext cx="2385919" cy="1274763"/>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Káº¿t quáº£ hÃ¬nh áº£nh cho ibm"/>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533435" y="6060726"/>
            <a:ext cx="931209" cy="9312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69162163"/>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976893"/>
          </a:xfrm>
        </p:spPr>
        <p:txBody>
          <a:bodyPr/>
          <a:lstStyle/>
          <a:p>
            <a:r>
              <a:rPr lang="en-US" smtClean="0">
                <a:latin typeface="Times New Roman" panose="02020603050405020304" pitchFamily="18" charset="0"/>
                <a:cs typeface="Times New Roman" panose="02020603050405020304" pitchFamily="18" charset="0"/>
              </a:rPr>
              <a:t>IBM Cloud Private</a:t>
            </a:r>
            <a:endParaRPr lang="en-US">
              <a:latin typeface="Times New Roman" panose="02020603050405020304" pitchFamily="18" charset="0"/>
              <a:cs typeface="Times New Roman" panose="02020603050405020304" pitchFamily="18" charset="0"/>
            </a:endParaRPr>
          </a:p>
        </p:txBody>
      </p:sp>
      <p:sp>
        <p:nvSpPr>
          <p:cNvPr id="3" name="Subtitle 2"/>
          <p:cNvSpPr>
            <a:spLocks noGrp="1"/>
          </p:cNvSpPr>
          <p:nvPr>
            <p:ph type="subTitle" idx="1"/>
          </p:nvPr>
        </p:nvSpPr>
        <p:spPr>
          <a:xfrm>
            <a:off x="0" y="2099257"/>
            <a:ext cx="12192000" cy="4758744"/>
          </a:xfrm>
        </p:spPr>
        <p:txBody>
          <a:bodyPr>
            <a:normAutofit/>
          </a:bodyPr>
          <a:lstStyle/>
          <a:p>
            <a:pPr marL="457200" indent="-457200" algn="l">
              <a:buAutoNum type="arabicPeriod"/>
            </a:pPr>
            <a:r>
              <a:rPr lang="en-US" smtClean="0">
                <a:latin typeface="Times New Roman" panose="02020603050405020304" pitchFamily="18" charset="0"/>
                <a:cs typeface="Times New Roman" panose="02020603050405020304" pitchFamily="18" charset="0"/>
              </a:rPr>
              <a:t>Concept</a:t>
            </a:r>
          </a:p>
          <a:p>
            <a:pPr marL="457200" indent="-457200" algn="l">
              <a:buAutoNum type="arabicPeriod"/>
            </a:pPr>
            <a:r>
              <a:rPr lang="en-US" smtClean="0">
                <a:latin typeface="Times New Roman" panose="02020603050405020304" pitchFamily="18" charset="0"/>
                <a:cs typeface="Times New Roman" panose="02020603050405020304" pitchFamily="18" charset="0"/>
              </a:rPr>
              <a:t>Features</a:t>
            </a:r>
          </a:p>
          <a:p>
            <a:pPr marL="457200" indent="-457200" algn="l">
              <a:buAutoNum type="arabicPeriod"/>
            </a:pPr>
            <a:r>
              <a:rPr lang="en-US" smtClean="0">
                <a:latin typeface="Times New Roman" panose="02020603050405020304" pitchFamily="18" charset="0"/>
                <a:cs typeface="Times New Roman" panose="02020603050405020304" pitchFamily="18" charset="0"/>
              </a:rPr>
              <a:t>Architecture</a:t>
            </a:r>
          </a:p>
          <a:p>
            <a:pPr marL="457200" indent="-457200" algn="l">
              <a:buAutoNum type="arabicPeriod"/>
            </a:pPr>
            <a:r>
              <a:rPr lang="en-US" smtClean="0">
                <a:latin typeface="Times New Roman" panose="02020603050405020304" pitchFamily="18" charset="0"/>
                <a:cs typeface="Times New Roman" panose="02020603050405020304" pitchFamily="18" charset="0"/>
              </a:rPr>
              <a:t>Editions</a:t>
            </a:r>
          </a:p>
        </p:txBody>
      </p:sp>
      <p:sp>
        <p:nvSpPr>
          <p:cNvPr id="4" name="AutoShape 2" descr="Káº¿t quáº£ hÃ¬nh áº£nh cho ibm cloud private"/>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8" name="Picture 4" descr="Káº¿t quáº£ hÃ¬nh áº£nh cho ibm cloud privat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0" y="0"/>
            <a:ext cx="1524000" cy="1605852"/>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6" descr="Káº¿t quáº£ hÃ¬nh áº£nh cho ibm cloud private"/>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806081" y="5583237"/>
            <a:ext cx="2385919" cy="1274763"/>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Káº¿t quáº£ hÃ¬nh áº£nh cho ibm"/>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533435" y="6060726"/>
            <a:ext cx="931209" cy="9312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0695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
            <a:ext cx="9144000" cy="914399"/>
          </a:xfrm>
        </p:spPr>
        <p:txBody>
          <a:bodyPr>
            <a:normAutofit fontScale="90000"/>
          </a:bodyPr>
          <a:lstStyle/>
          <a:p>
            <a:r>
              <a:rPr lang="en-US">
                <a:latin typeface="Times New Roman" panose="02020603050405020304" pitchFamily="18" charset="0"/>
                <a:cs typeface="Times New Roman" panose="02020603050405020304" pitchFamily="18" charset="0"/>
              </a:rPr>
              <a:t>IBM Cloud Private</a:t>
            </a:r>
          </a:p>
        </p:txBody>
      </p:sp>
      <p:sp>
        <p:nvSpPr>
          <p:cNvPr id="3" name="Subtitle 2"/>
          <p:cNvSpPr>
            <a:spLocks noGrp="1"/>
          </p:cNvSpPr>
          <p:nvPr>
            <p:ph type="subTitle" idx="1"/>
          </p:nvPr>
        </p:nvSpPr>
        <p:spPr>
          <a:xfrm>
            <a:off x="0" y="2099257"/>
            <a:ext cx="12192000" cy="4758744"/>
          </a:xfrm>
        </p:spPr>
        <p:txBody>
          <a:bodyPr>
            <a:normAutofit/>
          </a:bodyPr>
          <a:lstStyle/>
          <a:p>
            <a:pPr algn="l"/>
            <a:r>
              <a:rPr lang="en-US" smtClean="0">
                <a:latin typeface="Times New Roman" panose="02020603050405020304" pitchFamily="18" charset="0"/>
                <a:cs typeface="Times New Roman" panose="02020603050405020304" pitchFamily="18" charset="0"/>
              </a:rPr>
              <a:t>IBM Private Cloud is:</a:t>
            </a:r>
          </a:p>
          <a:p>
            <a:pPr marL="342900" indent="-342900" algn="l">
              <a:buFont typeface="Arial" panose="020B0604020202020204" pitchFamily="34" charset="0"/>
              <a:buChar char="•"/>
            </a:pPr>
            <a:r>
              <a:rPr lang="en-US" smtClean="0">
                <a:latin typeface="Times New Roman" panose="02020603050405020304" pitchFamily="18" charset="0"/>
                <a:cs typeface="Times New Roman" panose="02020603050405020304" pitchFamily="18" charset="0"/>
              </a:rPr>
              <a:t>An application platform for developing and managing on-premises.</a:t>
            </a:r>
          </a:p>
          <a:p>
            <a:pPr marL="342900" indent="-342900" algn="l">
              <a:buFont typeface="Arial" panose="020B0604020202020204" pitchFamily="34" charset="0"/>
              <a:buChar char="•"/>
            </a:pPr>
            <a:r>
              <a:rPr lang="en-US" smtClean="0">
                <a:latin typeface="Times New Roman" panose="02020603050405020304" pitchFamily="18" charset="0"/>
                <a:cs typeface="Times New Roman" panose="02020603050405020304" pitchFamily="18" charset="0"/>
              </a:rPr>
              <a:t>Containerized applications.</a:t>
            </a:r>
          </a:p>
          <a:p>
            <a:pPr marL="342900" indent="-342900" algn="l">
              <a:buFont typeface="Arial" panose="020B0604020202020204" pitchFamily="34" charset="0"/>
              <a:buChar char="•"/>
            </a:pPr>
            <a:r>
              <a:rPr lang="en-US" smtClean="0">
                <a:latin typeface="Times New Roman" panose="02020603050405020304" pitchFamily="18" charset="0"/>
                <a:cs typeface="Times New Roman" panose="02020603050405020304" pitchFamily="18" charset="0"/>
              </a:rPr>
              <a:t>An integrated environment for managing containers that includes: </a:t>
            </a:r>
          </a:p>
          <a:p>
            <a:pPr marL="914400" indent="-565150" algn="l">
              <a:buFont typeface="Wingdings" panose="05000000000000000000" pitchFamily="2" charset="2"/>
              <a:buChar char="Ø"/>
            </a:pPr>
            <a:r>
              <a:rPr lang="en-US" smtClean="0">
                <a:latin typeface="Times New Roman" panose="02020603050405020304" pitchFamily="18" charset="0"/>
                <a:cs typeface="Times New Roman" panose="02020603050405020304" pitchFamily="18" charset="0"/>
              </a:rPr>
              <a:t>Kubernetes for orchestrator.</a:t>
            </a:r>
          </a:p>
          <a:p>
            <a:pPr marL="914400" indent="-565150" algn="l">
              <a:buFont typeface="Wingdings" panose="05000000000000000000" pitchFamily="2" charset="2"/>
              <a:buChar char="Ø"/>
            </a:pPr>
            <a:r>
              <a:rPr lang="en-US" smtClean="0">
                <a:latin typeface="Times New Roman" panose="02020603050405020304" pitchFamily="18" charset="0"/>
                <a:cs typeface="Times New Roman" panose="02020603050405020304" pitchFamily="18" charset="0"/>
              </a:rPr>
              <a:t>A private image repositoty.</a:t>
            </a:r>
          </a:p>
          <a:p>
            <a:pPr marL="914400" indent="-565150" algn="l">
              <a:buFont typeface="Wingdings" panose="05000000000000000000" pitchFamily="2" charset="2"/>
              <a:buChar char="Ø"/>
            </a:pPr>
            <a:r>
              <a:rPr lang="en-US" smtClean="0">
                <a:latin typeface="Times New Roman" panose="02020603050405020304" pitchFamily="18" charset="0"/>
                <a:cs typeface="Times New Roman" panose="02020603050405020304" pitchFamily="18" charset="0"/>
              </a:rPr>
              <a:t>A management console.</a:t>
            </a:r>
          </a:p>
          <a:p>
            <a:pPr marL="914400" indent="-565150" algn="l">
              <a:buFont typeface="Wingdings" panose="05000000000000000000" pitchFamily="2" charset="2"/>
              <a:buChar char="Ø"/>
            </a:pPr>
            <a:r>
              <a:rPr lang="en-US" smtClean="0">
                <a:latin typeface="Times New Roman" panose="02020603050405020304" pitchFamily="18" charset="0"/>
                <a:cs typeface="Times New Roman" panose="02020603050405020304" pitchFamily="18" charset="0"/>
              </a:rPr>
              <a:t>Monitoring frameworks.</a:t>
            </a:r>
          </a:p>
          <a:p>
            <a:pPr algn="l"/>
            <a:endParaRPr lang="en-US" smtClean="0">
              <a:latin typeface="Times New Roman" panose="02020603050405020304" pitchFamily="18" charset="0"/>
              <a:cs typeface="Times New Roman" panose="02020603050405020304" pitchFamily="18" charset="0"/>
            </a:endParaRPr>
          </a:p>
          <a:p>
            <a:pPr marL="342900" indent="-342900" algn="l">
              <a:buFont typeface="Arial" panose="020B0604020202020204" pitchFamily="34" charset="0"/>
              <a:buChar char="•"/>
            </a:pPr>
            <a:endParaRPr lang="en-US" smtClean="0">
              <a:latin typeface="Times New Roman" panose="02020603050405020304" pitchFamily="18" charset="0"/>
              <a:cs typeface="Times New Roman" panose="02020603050405020304" pitchFamily="18" charset="0"/>
            </a:endParaRPr>
          </a:p>
        </p:txBody>
      </p:sp>
      <p:sp>
        <p:nvSpPr>
          <p:cNvPr id="4" name="AutoShape 2" descr="Káº¿t quáº£ hÃ¬nh áº£nh cho ibm cloud private"/>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8" name="Picture 4" descr="Káº¿t quáº£ hÃ¬nh áº£nh cho ibm cloud privat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0" y="0"/>
            <a:ext cx="1524000" cy="1605852"/>
          </a:xfrm>
          <a:prstGeom prst="rect">
            <a:avLst/>
          </a:prstGeom>
          <a:noFill/>
          <a:extLst>
            <a:ext uri="{909E8E84-426E-40DD-AFC4-6F175D3DCCD1}">
              <a14:hiddenFill xmlns:a14="http://schemas.microsoft.com/office/drawing/2010/main">
                <a:solidFill>
                  <a:srgbClr val="FFFFFF"/>
                </a:solidFill>
              </a14:hiddenFill>
            </a:ext>
          </a:extLst>
        </p:spPr>
      </p:pic>
      <p:sp>
        <p:nvSpPr>
          <p:cNvPr id="6" name="Title 1"/>
          <p:cNvSpPr txBox="1">
            <a:spLocks/>
          </p:cNvSpPr>
          <p:nvPr/>
        </p:nvSpPr>
        <p:spPr>
          <a:xfrm>
            <a:off x="1524000" y="914399"/>
            <a:ext cx="10668000" cy="691453"/>
          </a:xfrm>
          <a:prstGeom prst="rect">
            <a:avLst/>
          </a:prstGeom>
        </p:spPr>
        <p:txBody>
          <a:bodyPr vert="horz" lIns="91440" tIns="45720" rIns="91440" bIns="4572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4000" smtClean="0">
                <a:latin typeface="Times New Roman" panose="02020603050405020304" pitchFamily="18" charset="0"/>
                <a:cs typeface="Times New Roman" panose="02020603050405020304" pitchFamily="18" charset="0"/>
              </a:rPr>
              <a:t>1. Concept</a:t>
            </a:r>
            <a:endParaRPr lang="en-US" sz="4000">
              <a:latin typeface="Times New Roman" panose="02020603050405020304" pitchFamily="18" charset="0"/>
              <a:cs typeface="Times New Roman" panose="02020603050405020304" pitchFamily="18" charset="0"/>
            </a:endParaRPr>
          </a:p>
        </p:txBody>
      </p:sp>
      <p:pic>
        <p:nvPicPr>
          <p:cNvPr id="7" name="Picture 6" descr="Káº¿t quáº£ hÃ¬nh áº£nh cho ibm cloud private"/>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806081" y="5583237"/>
            <a:ext cx="2385919" cy="1274763"/>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Káº¿t quáº£ hÃ¬nh áº£nh cho ibm"/>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533435" y="6060726"/>
            <a:ext cx="931209" cy="9312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0159784"/>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
            <a:ext cx="9144000" cy="914399"/>
          </a:xfrm>
        </p:spPr>
        <p:txBody>
          <a:bodyPr>
            <a:normAutofit fontScale="90000"/>
          </a:bodyPr>
          <a:lstStyle/>
          <a:p>
            <a:r>
              <a:rPr lang="en-US">
                <a:latin typeface="Times New Roman" panose="02020603050405020304" pitchFamily="18" charset="0"/>
                <a:cs typeface="Times New Roman" panose="02020603050405020304" pitchFamily="18" charset="0"/>
              </a:rPr>
              <a:t>IBM Cloud Private</a:t>
            </a:r>
          </a:p>
        </p:txBody>
      </p:sp>
      <p:sp>
        <p:nvSpPr>
          <p:cNvPr id="3" name="Subtitle 2"/>
          <p:cNvSpPr>
            <a:spLocks noGrp="1"/>
          </p:cNvSpPr>
          <p:nvPr>
            <p:ph type="subTitle" idx="1"/>
          </p:nvPr>
        </p:nvSpPr>
        <p:spPr>
          <a:xfrm>
            <a:off x="0" y="2099257"/>
            <a:ext cx="12192000" cy="4758744"/>
          </a:xfrm>
        </p:spPr>
        <p:txBody>
          <a:bodyPr>
            <a:normAutofit/>
          </a:bodyPr>
          <a:lstStyle/>
          <a:p>
            <a:pPr marL="342900" indent="-342900" algn="l">
              <a:buFont typeface="Arial" panose="020B0604020202020204" pitchFamily="34" charset="0"/>
              <a:buChar char="•"/>
            </a:pPr>
            <a:r>
              <a:rPr lang="en-US" smtClean="0">
                <a:latin typeface="Times New Roman" panose="02020603050405020304" pitchFamily="18" charset="0"/>
                <a:cs typeface="Times New Roman" panose="02020603050405020304" pitchFamily="18" charset="0"/>
              </a:rPr>
              <a:t>A unified installer: Rapidly deploy your cluster </a:t>
            </a:r>
          </a:p>
          <a:p>
            <a:pPr marL="342900" indent="-342900" algn="l">
              <a:buFont typeface="Arial" panose="020B0604020202020204" pitchFamily="34" charset="0"/>
              <a:buChar char="•"/>
            </a:pPr>
            <a:r>
              <a:rPr lang="en-US" smtClean="0">
                <a:latin typeface="Times New Roman" panose="02020603050405020304" pitchFamily="18" charset="0"/>
                <a:cs typeface="Times New Roman" panose="02020603050405020304" pitchFamily="18" charset="0"/>
              </a:rPr>
              <a:t>IBM Cloud Private cluster management console: manage, monitor, troubleshoot</a:t>
            </a:r>
          </a:p>
          <a:p>
            <a:pPr marL="342900" indent="-342900" algn="l">
              <a:buFont typeface="Arial" panose="020B0604020202020204" pitchFamily="34" charset="0"/>
              <a:buChar char="•"/>
            </a:pPr>
            <a:r>
              <a:rPr lang="en-US" smtClean="0">
                <a:latin typeface="Times New Roman" panose="02020603050405020304" pitchFamily="18" charset="0"/>
                <a:cs typeface="Times New Roman" panose="02020603050405020304" pitchFamily="18" charset="0"/>
              </a:rPr>
              <a:t>Private Docker image registry.</a:t>
            </a:r>
          </a:p>
          <a:p>
            <a:pPr marL="342900" indent="-342900" algn="l">
              <a:buFont typeface="Arial" panose="020B0604020202020204" pitchFamily="34" charset="0"/>
              <a:buChar char="•"/>
            </a:pPr>
            <a:r>
              <a:rPr lang="en-US" smtClean="0">
                <a:latin typeface="Times New Roman" panose="02020603050405020304" pitchFamily="18" charset="0"/>
                <a:cs typeface="Times New Roman" panose="02020603050405020304" pitchFamily="18" charset="0"/>
              </a:rPr>
              <a:t>Catalog with Helm: https</a:t>
            </a:r>
            <a:r>
              <a:rPr lang="en-US">
                <a:latin typeface="Times New Roman" panose="02020603050405020304" pitchFamily="18" charset="0"/>
                <a:cs typeface="Times New Roman" panose="02020603050405020304" pitchFamily="18" charset="0"/>
              </a:rPr>
              <a:t>://</a:t>
            </a:r>
            <a:r>
              <a:rPr lang="en-US" smtClean="0">
                <a:latin typeface="Times New Roman" panose="02020603050405020304" pitchFamily="18" charset="0"/>
                <a:cs typeface="Times New Roman" panose="02020603050405020304" pitchFamily="18" charset="0"/>
              </a:rPr>
              <a:t>github.com/kubernetes/charts/tree/master/stable.</a:t>
            </a:r>
          </a:p>
          <a:p>
            <a:pPr marL="342900" indent="-342900" algn="l">
              <a:buFont typeface="Arial" panose="020B0604020202020204" pitchFamily="34" charset="0"/>
              <a:buChar char="•"/>
            </a:pPr>
            <a:r>
              <a:rPr lang="en-US" smtClean="0">
                <a:latin typeface="Times New Roman" panose="02020603050405020304" pitchFamily="18" charset="0"/>
                <a:cs typeface="Times New Roman" panose="02020603050405020304" pitchFamily="18" charset="0"/>
              </a:rPr>
              <a:t>Isolated Tenant Networks with Calico: Virtual network and more.</a:t>
            </a:r>
          </a:p>
          <a:p>
            <a:pPr marL="342900" indent="-342900" algn="l">
              <a:buFont typeface="Arial" panose="020B0604020202020204" pitchFamily="34" charset="0"/>
              <a:buChar char="•"/>
            </a:pPr>
            <a:r>
              <a:rPr lang="en-US" smtClean="0">
                <a:latin typeface="Times New Roman" panose="02020603050405020304" pitchFamily="18" charset="0"/>
                <a:cs typeface="Times New Roman" panose="02020603050405020304" pitchFamily="18" charset="0"/>
              </a:rPr>
              <a:t>Robust monitoring and logging with ELK </a:t>
            </a:r>
            <a:r>
              <a:rPr lang="en-US">
                <a:latin typeface="Times New Roman" panose="02020603050405020304" pitchFamily="18" charset="0"/>
                <a:cs typeface="Times New Roman" panose="02020603050405020304" pitchFamily="18" charset="0"/>
              </a:rPr>
              <a:t>stack: Elasticsearch, Logstash, Filebeat </a:t>
            </a:r>
            <a:r>
              <a:rPr lang="en-US" smtClean="0">
                <a:latin typeface="Times New Roman" panose="02020603050405020304" pitchFamily="18" charset="0"/>
                <a:cs typeface="Times New Roman" panose="02020603050405020304" pitchFamily="18" charset="0"/>
              </a:rPr>
              <a:t>and </a:t>
            </a:r>
            <a:r>
              <a:rPr lang="en-US">
                <a:latin typeface="Times New Roman" panose="02020603050405020304" pitchFamily="18" charset="0"/>
                <a:cs typeface="Times New Roman" panose="02020603050405020304" pitchFamily="18" charset="0"/>
              </a:rPr>
              <a:t>Heapster</a:t>
            </a:r>
            <a:endParaRPr lang="en-US" smtClean="0">
              <a:latin typeface="Times New Roman" panose="02020603050405020304" pitchFamily="18" charset="0"/>
              <a:cs typeface="Times New Roman" panose="02020603050405020304" pitchFamily="18" charset="0"/>
            </a:endParaRPr>
          </a:p>
        </p:txBody>
      </p:sp>
      <p:sp>
        <p:nvSpPr>
          <p:cNvPr id="4" name="AutoShape 2" descr="Káº¿t quáº£ hÃ¬nh áº£nh cho ibm cloud private"/>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8" name="Picture 4" descr="Káº¿t quáº£ hÃ¬nh áº£nh cho ibm cloud privat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0" y="0"/>
            <a:ext cx="1524000" cy="1605852"/>
          </a:xfrm>
          <a:prstGeom prst="rect">
            <a:avLst/>
          </a:prstGeom>
          <a:noFill/>
          <a:extLst>
            <a:ext uri="{909E8E84-426E-40DD-AFC4-6F175D3DCCD1}">
              <a14:hiddenFill xmlns:a14="http://schemas.microsoft.com/office/drawing/2010/main">
                <a:solidFill>
                  <a:srgbClr val="FFFFFF"/>
                </a:solidFill>
              </a14:hiddenFill>
            </a:ext>
          </a:extLst>
        </p:spPr>
      </p:pic>
      <p:sp>
        <p:nvSpPr>
          <p:cNvPr id="6" name="Title 1"/>
          <p:cNvSpPr txBox="1">
            <a:spLocks/>
          </p:cNvSpPr>
          <p:nvPr/>
        </p:nvSpPr>
        <p:spPr>
          <a:xfrm>
            <a:off x="1524000" y="914399"/>
            <a:ext cx="10668000" cy="691453"/>
          </a:xfrm>
          <a:prstGeom prst="rect">
            <a:avLst/>
          </a:prstGeom>
        </p:spPr>
        <p:txBody>
          <a:bodyPr vert="horz" lIns="91440" tIns="45720" rIns="91440" bIns="4572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4000" smtClean="0">
                <a:latin typeface="Times New Roman" panose="02020603050405020304" pitchFamily="18" charset="0"/>
                <a:cs typeface="Times New Roman" panose="02020603050405020304" pitchFamily="18" charset="0"/>
              </a:rPr>
              <a:t>2. Features</a:t>
            </a:r>
            <a:endParaRPr lang="en-US" sz="4000">
              <a:latin typeface="Times New Roman" panose="02020603050405020304" pitchFamily="18" charset="0"/>
              <a:cs typeface="Times New Roman" panose="02020603050405020304" pitchFamily="18" charset="0"/>
            </a:endParaRPr>
          </a:p>
        </p:txBody>
      </p:sp>
      <p:pic>
        <p:nvPicPr>
          <p:cNvPr id="7" name="Picture 6" descr="Káº¿t quáº£ hÃ¬nh áº£nh cho ibm cloud private"/>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806081" y="5583237"/>
            <a:ext cx="2385919" cy="1274763"/>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Káº¿t quáº£ hÃ¬nh áº£nh cho ibm"/>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533435" y="6060726"/>
            <a:ext cx="931209" cy="9312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41388773"/>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
            <a:ext cx="9144000" cy="914399"/>
          </a:xfrm>
        </p:spPr>
        <p:txBody>
          <a:bodyPr>
            <a:normAutofit fontScale="90000"/>
          </a:bodyPr>
          <a:lstStyle/>
          <a:p>
            <a:r>
              <a:rPr lang="en-US">
                <a:latin typeface="Times New Roman" panose="02020603050405020304" pitchFamily="18" charset="0"/>
                <a:cs typeface="Times New Roman" panose="02020603050405020304" pitchFamily="18" charset="0"/>
              </a:rPr>
              <a:t>IBM Cloud Private</a:t>
            </a:r>
          </a:p>
        </p:txBody>
      </p:sp>
      <p:sp>
        <p:nvSpPr>
          <p:cNvPr id="3" name="Subtitle 2"/>
          <p:cNvSpPr>
            <a:spLocks noGrp="1"/>
          </p:cNvSpPr>
          <p:nvPr>
            <p:ph type="subTitle" idx="1"/>
          </p:nvPr>
        </p:nvSpPr>
        <p:spPr>
          <a:xfrm>
            <a:off x="0" y="2099257"/>
            <a:ext cx="12192000" cy="4758744"/>
          </a:xfrm>
        </p:spPr>
        <p:txBody>
          <a:bodyPr>
            <a:normAutofit/>
          </a:bodyPr>
          <a:lstStyle/>
          <a:p>
            <a:pPr algn="l"/>
            <a:r>
              <a:rPr lang="en-US">
                <a:latin typeface="Times New Roman" panose="02020603050405020304" pitchFamily="18" charset="0"/>
                <a:cs typeface="Times New Roman" panose="02020603050405020304" pitchFamily="18" charset="0"/>
              </a:rPr>
              <a:t>An IBM Cloud Private cluster has four main classes of nodes</a:t>
            </a:r>
            <a:r>
              <a:rPr lang="en-US" smtClean="0">
                <a:latin typeface="Times New Roman" panose="02020603050405020304" pitchFamily="18" charset="0"/>
                <a:cs typeface="Times New Roman" panose="02020603050405020304" pitchFamily="18" charset="0"/>
              </a:rPr>
              <a:t>:</a:t>
            </a:r>
          </a:p>
          <a:p>
            <a:pPr marL="342900" indent="-342900" algn="l">
              <a:buFont typeface="Arial" panose="020B0604020202020204" pitchFamily="34" charset="0"/>
              <a:buChar char="•"/>
            </a:pPr>
            <a:r>
              <a:rPr lang="en-US" smtClean="0">
                <a:latin typeface="Times New Roman" panose="02020603050405020304" pitchFamily="18" charset="0"/>
                <a:cs typeface="Times New Roman" panose="02020603050405020304" pitchFamily="18" charset="0"/>
              </a:rPr>
              <a:t>Boot node.</a:t>
            </a:r>
          </a:p>
          <a:p>
            <a:pPr marL="342900" indent="-342900" algn="l">
              <a:buFont typeface="Arial" panose="020B0604020202020204" pitchFamily="34" charset="0"/>
              <a:buChar char="•"/>
            </a:pPr>
            <a:r>
              <a:rPr lang="en-US" smtClean="0">
                <a:latin typeface="Times New Roman" panose="02020603050405020304" pitchFamily="18" charset="0"/>
                <a:cs typeface="Times New Roman" panose="02020603050405020304" pitchFamily="18" charset="0"/>
              </a:rPr>
              <a:t>Master node.</a:t>
            </a:r>
          </a:p>
          <a:p>
            <a:pPr marL="342900" indent="-342900" algn="l">
              <a:buFont typeface="Arial" panose="020B0604020202020204" pitchFamily="34" charset="0"/>
              <a:buChar char="•"/>
            </a:pPr>
            <a:r>
              <a:rPr lang="en-US" smtClean="0">
                <a:latin typeface="Times New Roman" panose="02020603050405020304" pitchFamily="18" charset="0"/>
                <a:cs typeface="Times New Roman" panose="02020603050405020304" pitchFamily="18" charset="0"/>
              </a:rPr>
              <a:t>Worker node.</a:t>
            </a:r>
          </a:p>
          <a:p>
            <a:pPr marL="342900" indent="-342900" algn="l">
              <a:buFont typeface="Arial" panose="020B0604020202020204" pitchFamily="34" charset="0"/>
              <a:buChar char="•"/>
            </a:pPr>
            <a:r>
              <a:rPr lang="en-US" smtClean="0">
                <a:latin typeface="Times New Roman" panose="02020603050405020304" pitchFamily="18" charset="0"/>
                <a:cs typeface="Times New Roman" panose="02020603050405020304" pitchFamily="18" charset="0"/>
              </a:rPr>
              <a:t>Proxy Node.</a:t>
            </a:r>
          </a:p>
          <a:p>
            <a:pPr marL="342900" indent="-342900" algn="l">
              <a:buFont typeface="Arial" panose="020B0604020202020204" pitchFamily="34" charset="0"/>
              <a:buChar char="•"/>
            </a:pPr>
            <a:r>
              <a:rPr lang="en-US" smtClean="0">
                <a:latin typeface="Times New Roman" panose="02020603050405020304" pitchFamily="18" charset="0"/>
                <a:cs typeface="Times New Roman" panose="02020603050405020304" pitchFamily="18" charset="0"/>
              </a:rPr>
              <a:t>Management Node.</a:t>
            </a:r>
          </a:p>
        </p:txBody>
      </p:sp>
      <p:sp>
        <p:nvSpPr>
          <p:cNvPr id="4" name="AutoShape 2" descr="Káº¿t quáº£ hÃ¬nh áº£nh cho ibm cloud private"/>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8" name="Picture 4" descr="Káº¿t quáº£ hÃ¬nh áº£nh cho ibm cloud privat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0" y="0"/>
            <a:ext cx="1524000" cy="1605852"/>
          </a:xfrm>
          <a:prstGeom prst="rect">
            <a:avLst/>
          </a:prstGeom>
          <a:noFill/>
          <a:extLst>
            <a:ext uri="{909E8E84-426E-40DD-AFC4-6F175D3DCCD1}">
              <a14:hiddenFill xmlns:a14="http://schemas.microsoft.com/office/drawing/2010/main">
                <a:solidFill>
                  <a:srgbClr val="FFFFFF"/>
                </a:solidFill>
              </a14:hiddenFill>
            </a:ext>
          </a:extLst>
        </p:spPr>
      </p:pic>
      <p:sp>
        <p:nvSpPr>
          <p:cNvPr id="6" name="Title 1"/>
          <p:cNvSpPr txBox="1">
            <a:spLocks/>
          </p:cNvSpPr>
          <p:nvPr/>
        </p:nvSpPr>
        <p:spPr>
          <a:xfrm>
            <a:off x="1524000" y="914399"/>
            <a:ext cx="10668000" cy="691453"/>
          </a:xfrm>
          <a:prstGeom prst="rect">
            <a:avLst/>
          </a:prstGeom>
        </p:spPr>
        <p:txBody>
          <a:bodyPr vert="horz" lIns="91440" tIns="45720" rIns="91440" bIns="4572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4000" smtClean="0">
                <a:latin typeface="Times New Roman" panose="02020603050405020304" pitchFamily="18" charset="0"/>
                <a:cs typeface="Times New Roman" panose="02020603050405020304" pitchFamily="18" charset="0"/>
              </a:rPr>
              <a:t>3. Architecture</a:t>
            </a:r>
            <a:endParaRPr lang="en-US" sz="4000">
              <a:latin typeface="Times New Roman" panose="02020603050405020304" pitchFamily="18" charset="0"/>
              <a:cs typeface="Times New Roman" panose="02020603050405020304" pitchFamily="18" charset="0"/>
            </a:endParaRPr>
          </a:p>
        </p:txBody>
      </p:sp>
      <p:pic>
        <p:nvPicPr>
          <p:cNvPr id="7" name="Picture 6" descr="Káº¿t quáº£ hÃ¬nh áº£nh cho ibm cloud private"/>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806081" y="5583237"/>
            <a:ext cx="2385919" cy="1274763"/>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Káº¿t quáº£ hÃ¬nh áº£nh cho ibm"/>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533435" y="6060726"/>
            <a:ext cx="931209" cy="9312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8758279"/>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
            <a:ext cx="9144000" cy="914399"/>
          </a:xfrm>
        </p:spPr>
        <p:txBody>
          <a:bodyPr>
            <a:normAutofit fontScale="90000"/>
          </a:bodyPr>
          <a:lstStyle/>
          <a:p>
            <a:r>
              <a:rPr lang="en-US">
                <a:latin typeface="Times New Roman" panose="02020603050405020304" pitchFamily="18" charset="0"/>
                <a:cs typeface="Times New Roman" panose="02020603050405020304" pitchFamily="18" charset="0"/>
              </a:rPr>
              <a:t>IBM Cloud Private</a:t>
            </a:r>
          </a:p>
        </p:txBody>
      </p:sp>
      <p:sp>
        <p:nvSpPr>
          <p:cNvPr id="3" name="Subtitle 2"/>
          <p:cNvSpPr>
            <a:spLocks noGrp="1"/>
          </p:cNvSpPr>
          <p:nvPr>
            <p:ph type="subTitle" idx="1"/>
          </p:nvPr>
        </p:nvSpPr>
        <p:spPr>
          <a:xfrm>
            <a:off x="-4763" y="4063417"/>
            <a:ext cx="15999139" cy="6637529"/>
          </a:xfrm>
        </p:spPr>
        <p:txBody>
          <a:bodyPr>
            <a:normAutofit/>
          </a:bodyPr>
          <a:lstStyle/>
          <a:p>
            <a:pPr algn="l"/>
            <a:endParaRPr lang="en-US" smtClean="0">
              <a:latin typeface="Times New Roman" panose="02020603050405020304" pitchFamily="18" charset="0"/>
              <a:cs typeface="Times New Roman" panose="02020603050405020304" pitchFamily="18" charset="0"/>
            </a:endParaRPr>
          </a:p>
        </p:txBody>
      </p:sp>
      <p:sp>
        <p:nvSpPr>
          <p:cNvPr id="4" name="AutoShape 2" descr="Káº¿t quáº£ hÃ¬nh áº£nh cho ibm cloud private"/>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8" name="Picture 4" descr="Káº¿t quáº£ hÃ¬nh áº£nh cho ibm cloud privat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0" y="0"/>
            <a:ext cx="1524000" cy="1605852"/>
          </a:xfrm>
          <a:prstGeom prst="rect">
            <a:avLst/>
          </a:prstGeom>
          <a:noFill/>
          <a:extLst>
            <a:ext uri="{909E8E84-426E-40DD-AFC4-6F175D3DCCD1}">
              <a14:hiddenFill xmlns:a14="http://schemas.microsoft.com/office/drawing/2010/main">
                <a:solidFill>
                  <a:srgbClr val="FFFFFF"/>
                </a:solidFill>
              </a14:hiddenFill>
            </a:ext>
          </a:extLst>
        </p:spPr>
      </p:pic>
      <p:sp>
        <p:nvSpPr>
          <p:cNvPr id="6" name="Title 1"/>
          <p:cNvSpPr txBox="1">
            <a:spLocks/>
          </p:cNvSpPr>
          <p:nvPr/>
        </p:nvSpPr>
        <p:spPr>
          <a:xfrm>
            <a:off x="1524000" y="914399"/>
            <a:ext cx="10668000" cy="691453"/>
          </a:xfrm>
          <a:prstGeom prst="rect">
            <a:avLst/>
          </a:prstGeom>
        </p:spPr>
        <p:txBody>
          <a:bodyPr vert="horz" lIns="91440" tIns="45720" rIns="91440" bIns="4572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4000">
                <a:latin typeface="Times New Roman" panose="02020603050405020304" pitchFamily="18" charset="0"/>
                <a:cs typeface="Times New Roman" panose="02020603050405020304" pitchFamily="18" charset="0"/>
              </a:rPr>
              <a:t>4</a:t>
            </a:r>
            <a:r>
              <a:rPr lang="en-US" sz="4000" smtClean="0">
                <a:latin typeface="Times New Roman" panose="02020603050405020304" pitchFamily="18" charset="0"/>
                <a:cs typeface="Times New Roman" panose="02020603050405020304" pitchFamily="18" charset="0"/>
              </a:rPr>
              <a:t>. Editions</a:t>
            </a:r>
            <a:endParaRPr lang="en-US" sz="4000">
              <a:latin typeface="Times New Roman" panose="02020603050405020304" pitchFamily="18" charset="0"/>
              <a:cs typeface="Times New Roman" panose="02020603050405020304" pitchFamily="18" charset="0"/>
            </a:endParaRPr>
          </a:p>
        </p:txBody>
      </p:sp>
      <p:pic>
        <p:nvPicPr>
          <p:cNvPr id="7" name="Picture 6" descr="Káº¿t quáº£ hÃ¬nh áº£nh cho ibm cloud private"/>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806081" y="5583237"/>
            <a:ext cx="2385919" cy="1274763"/>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1__=C8BB08EBDFB16E248f9e8a93df938690918cC8B@"/>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763" y="1968923"/>
            <a:ext cx="9990723" cy="48890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 name="Picture 2" descr="Káº¿t quáº£ hÃ¬nh áº£nh cho ibm"/>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0533435" y="6060726"/>
            <a:ext cx="931209" cy="9312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69980825"/>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192</TotalTime>
  <Words>736</Words>
  <Application>Microsoft Office PowerPoint</Application>
  <PresentationFormat>Widescreen</PresentationFormat>
  <Paragraphs>62</Paragraphs>
  <Slides>6</Slides>
  <Notes>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vt:i4>
      </vt:variant>
    </vt:vector>
  </HeadingPairs>
  <TitlesOfParts>
    <vt:vector size="12" baseType="lpstr">
      <vt:lpstr>Arial</vt:lpstr>
      <vt:lpstr>Calibri</vt:lpstr>
      <vt:lpstr>Calibri Light</vt:lpstr>
      <vt:lpstr>Times New Roman</vt:lpstr>
      <vt:lpstr>Wingdings</vt:lpstr>
      <vt:lpstr>Office Theme</vt:lpstr>
      <vt:lpstr>IBM Cloud Private</vt:lpstr>
      <vt:lpstr>IBM Cloud Private</vt:lpstr>
      <vt:lpstr>IBM Cloud Private</vt:lpstr>
      <vt:lpstr>IBM Cloud Private</vt:lpstr>
      <vt:lpstr>IBM Cloud Private</vt:lpstr>
      <vt:lpstr>IBM Cloud Private</vt:lpstr>
    </vt:vector>
  </TitlesOfParts>
  <Company>Microsoft</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IBM Private Cloud</dc:title>
  <dc:creator>NAM</dc:creator>
  <cp:lastModifiedBy>NAM</cp:lastModifiedBy>
  <cp:revision>11</cp:revision>
  <dcterms:created xsi:type="dcterms:W3CDTF">2018-04-23T03:41:34Z</dcterms:created>
  <dcterms:modified xsi:type="dcterms:W3CDTF">2018-04-23T09:38:09Z</dcterms:modified>
</cp:coreProperties>
</file>